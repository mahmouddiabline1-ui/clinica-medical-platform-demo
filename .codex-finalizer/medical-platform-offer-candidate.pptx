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9c8e391e7f4b19" /><Relationship Type="http://schemas.openxmlformats.org/officeDocument/2006/relationships/extended-properties" Target="/docProps/app.xml" Id="Rd028ff6db2194cc4" /><Relationship Type="http://schemas.openxmlformats.org/officeDocument/2006/relationships/officeDocument" Target="/ppt/presentation.xml" Id="Rc40d0162926a44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f302f191904ae2"/>
  </p:sldMasterIdLst>
  <p:notesMasterIdLst>
    <p:notesMasterId xmlns:r="http://schemas.openxmlformats.org/officeDocument/2006/relationships" r:id="R5f1fb535480f49d2"/>
  </p:notesMasterIdLst>
  <p:sldIdLst>
    <p:sldId xmlns:r="http://schemas.openxmlformats.org/officeDocument/2006/relationships" id="256" r:id="R3a22457857274079"/>
    <p:sldId xmlns:r="http://schemas.openxmlformats.org/officeDocument/2006/relationships" id="257" r:id="Rf72b925e4471453f"/>
    <p:sldId xmlns:r="http://schemas.openxmlformats.org/officeDocument/2006/relationships" id="258" r:id="R3e6cd257d46c4df8"/>
    <p:sldId xmlns:r="http://schemas.openxmlformats.org/officeDocument/2006/relationships" id="259" r:id="R0692785c63ca4b46"/>
    <p:sldId xmlns:r="http://schemas.openxmlformats.org/officeDocument/2006/relationships" id="260" r:id="R768aed61b35a4d58"/>
    <p:sldId xmlns:r="http://schemas.openxmlformats.org/officeDocument/2006/relationships" id="261" r:id="R8d018c53a4c5432a"/>
    <p:sldId xmlns:r="http://schemas.openxmlformats.org/officeDocument/2006/relationships" id="262" r:id="R46bc3316ae53444b"/>
    <p:sldId xmlns:r="http://schemas.openxmlformats.org/officeDocument/2006/relationships" id="263" r:id="Rb9542d35389244c7"/>
    <p:sldId xmlns:r="http://schemas.openxmlformats.org/officeDocument/2006/relationships" id="264" r:id="Rc86799978e184948"/>
    <p:sldId xmlns:r="http://schemas.openxmlformats.org/officeDocument/2006/relationships" id="265" r:id="R38a2afbc11304af2"/>
    <p:sldId xmlns:r="http://schemas.openxmlformats.org/officeDocument/2006/relationships" id="266" r:id="R3af1c446fdb74a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b66f8f7bd64744" /><Relationship Type="http://schemas.openxmlformats.org/officeDocument/2006/relationships/slideMaster" Target="/ppt/slideMasters/slideMaster1.xml" Id="Rc6f302f191904ae2" /><Relationship Type="http://schemas.openxmlformats.org/officeDocument/2006/relationships/notesMaster" Target="/ppt/notesMasters/notesMaster1.xml" Id="R5f1fb535480f49d2" /><Relationship Type="http://schemas.openxmlformats.org/officeDocument/2006/relationships/presProps" Target="/ppt/presProps.xml" Id="R06a6ebcd20214710" /><Relationship Type="http://schemas.openxmlformats.org/officeDocument/2006/relationships/tableStyles" Target="/ppt/tableStyles.xml" Id="Rb1b6ab17a05e49bf" /><Relationship Type="http://schemas.openxmlformats.org/officeDocument/2006/relationships/slide" Target="/ppt/slides/slide1.xml" Id="R3a22457857274079" /><Relationship Type="http://schemas.openxmlformats.org/officeDocument/2006/relationships/slide" Target="/ppt/slides/slide2.xml" Id="Rf72b925e4471453f" /><Relationship Type="http://schemas.openxmlformats.org/officeDocument/2006/relationships/slide" Target="/ppt/slides/slide3.xml" Id="R3e6cd257d46c4df8" /><Relationship Type="http://schemas.openxmlformats.org/officeDocument/2006/relationships/slide" Target="/ppt/slides/slide4.xml" Id="R0692785c63ca4b46" /><Relationship Type="http://schemas.openxmlformats.org/officeDocument/2006/relationships/slide" Target="/ppt/slides/slide5.xml" Id="R768aed61b35a4d58" /><Relationship Type="http://schemas.openxmlformats.org/officeDocument/2006/relationships/slide" Target="/ppt/slides/slide6.xml" Id="R8d018c53a4c5432a" /><Relationship Type="http://schemas.openxmlformats.org/officeDocument/2006/relationships/slide" Target="/ppt/slides/slide7.xml" Id="R46bc3316ae53444b" /><Relationship Type="http://schemas.openxmlformats.org/officeDocument/2006/relationships/slide" Target="/ppt/slides/slide8.xml" Id="Rb9542d35389244c7" /><Relationship Type="http://schemas.openxmlformats.org/officeDocument/2006/relationships/slide" Target="/ppt/slides/slide9.xml" Id="Rc86799978e184948" /><Relationship Type="http://schemas.openxmlformats.org/officeDocument/2006/relationships/slide" Target="/ppt/slides/slide10.xml" Id="R38a2afbc11304af2" /><Relationship Type="http://schemas.openxmlformats.org/officeDocument/2006/relationships/slide" Target="/ppt/slides/slide11.xml" Id="R3af1c446fdb74a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c4bae77b504b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33f6c73e9d4a64" /><Relationship Type="http://schemas.openxmlformats.org/officeDocument/2006/relationships/notesMaster" Target="/ppt/notesMasters/notesMaster1.xml" Id="R72eb828601374d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3785734a7a436d" /><Relationship Type="http://schemas.openxmlformats.org/officeDocument/2006/relationships/notesMaster" Target="/ppt/notesMasters/notesMaster1.xml" Id="R03a6757d0e9d4c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7ddf1acde54c15" /><Relationship Type="http://schemas.openxmlformats.org/officeDocument/2006/relationships/notesMaster" Target="/ppt/notesMasters/notesMaster1.xml" Id="Ra28f485315284c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9121bf34564df0" /><Relationship Type="http://schemas.openxmlformats.org/officeDocument/2006/relationships/notesMaster" Target="/ppt/notesMasters/notesMaster1.xml" Id="R126e39de706144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9ceab7155d462e" /><Relationship Type="http://schemas.openxmlformats.org/officeDocument/2006/relationships/notesMaster" Target="/ppt/notesMasters/notesMaster1.xml" Id="Rbb0e5702bca544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5dbfe255124e17" /><Relationship Type="http://schemas.openxmlformats.org/officeDocument/2006/relationships/notesMaster" Target="/ppt/notesMasters/notesMaster1.xml" Id="Re6d80c9fb6144e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af5d49bd524e26" /><Relationship Type="http://schemas.openxmlformats.org/officeDocument/2006/relationships/notesMaster" Target="/ppt/notesMasters/notesMaster1.xml" Id="R0c0f97bcd9f94e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a08457c00d4993" /><Relationship Type="http://schemas.openxmlformats.org/officeDocument/2006/relationships/notesMaster" Target="/ppt/notesMasters/notesMaster1.xml" Id="R18b3a460fa3749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48a12a55374e61" /><Relationship Type="http://schemas.openxmlformats.org/officeDocument/2006/relationships/notesMaster" Target="/ppt/notesMasters/notesMaster1.xml" Id="Rd05b33460daa46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4e042dee984a57" /><Relationship Type="http://schemas.openxmlformats.org/officeDocument/2006/relationships/notesMaster" Target="/ppt/notesMasters/notesMaster1.xml" Id="R88b2e38075e644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3606c60ae74d99" /><Relationship Type="http://schemas.openxmlformats.org/officeDocument/2006/relationships/notesMaster" Target="/ppt/notesMasters/notesMaster1.xml" Id="R9d6017a06b19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f7e8d692143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7962c8576c442b" /><Relationship Type="http://schemas.openxmlformats.org/officeDocument/2006/relationships/slideLayout" Target="/ppt/slideLayouts/slideLayout1.xml" Id="R4aa00d0e8d674a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a00d0e8d674a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c7a081afa4aef" /><Relationship Type="http://schemas.openxmlformats.org/officeDocument/2006/relationships/notesSlide" Target="/ppt/notesSlides/notesSlide1.xml" Id="R8ffca5f23aca48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8351277414ac0" /><Relationship Type="http://schemas.openxmlformats.org/officeDocument/2006/relationships/notesSlide" Target="/ppt/notesSlides/notesSlide2.xml" Id="R9a67c085bfe449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2e03820724ac7" /><Relationship Type="http://schemas.openxmlformats.org/officeDocument/2006/relationships/notesSlide" Target="/ppt/notesSlides/notesSlide3.xml" Id="R6cd62b099e7147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9cc45880449af" /><Relationship Type="http://schemas.openxmlformats.org/officeDocument/2006/relationships/notesSlide" Target="/ppt/notesSlides/notesSlide4.xml" Id="R9c35a3b66f084b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6f64d46ca45bc" /><Relationship Type="http://schemas.openxmlformats.org/officeDocument/2006/relationships/notesSlide" Target="/ppt/notesSlides/notesSlide5.xml" Id="R8493c0bae8ee45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4753026dd418f" /><Relationship Type="http://schemas.openxmlformats.org/officeDocument/2006/relationships/notesSlide" Target="/ppt/notesSlides/notesSlide6.xml" Id="R1dd86597cd2247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457eb16554c58" /><Relationship Type="http://schemas.openxmlformats.org/officeDocument/2006/relationships/notesSlide" Target="/ppt/notesSlides/notesSlide7.xml" Id="R0698025744124c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d833887554237" /><Relationship Type="http://schemas.openxmlformats.org/officeDocument/2006/relationships/notesSlide" Target="/ppt/notesSlides/notesSlide8.xml" Id="R0f4fa723bde84e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a60814f2f4c44" /><Relationship Type="http://schemas.openxmlformats.org/officeDocument/2006/relationships/notesSlide" Target="/ppt/notesSlides/notesSlide9.xml" Id="R8855b5157f4c42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c4aa4d4f04c2b" /><Relationship Type="http://schemas.openxmlformats.org/officeDocument/2006/relationships/notesSlide" Target="/ppt/notesSlides/notesSlide10.xml" Id="R91f7056b8ab44e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3dc6fc73c4559" /><Relationship Type="http://schemas.openxmlformats.org/officeDocument/2006/relationships/notesSlide" Target="/ppt/notesSlides/notesSlide11.xml" Id="R6fbfab2c1daf45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48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FDC8D-1B5C-4D96-B6E8-A7751A8E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3B21D-C965-4B80-BE92-D8A031BD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381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AA182-CAEC-45A6-8E03-008BD64C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BF07F-49BD-431F-B486-72D0EC98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عرض خدمات المنصة الطبية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072CC-CC6F-4A5E-A536-746A1418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685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800" b="0">
                <a:solidFill>
                  <a:srgbClr val="D9EBE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BE9"/>
                </a:solidFill>
                <a:latin typeface="Arial"/>
                <a:ea typeface="Arial"/>
                <a:cs typeface="Arial"/>
              </a:rPr>
              <a:t>نظام إدارة وحجز ومتابعة للعيادات والمراكز الطبية</a:t>
            </a:r>
          </a:p>
          <a:p xmlns:a="http://schemas.openxmlformats.org/drawingml/2006/main">
            <a:pPr algn="r" rtl="1">
              <a:defRPr sz="1800" b="0">
                <a:solidFill>
                  <a:srgbClr val="D9EBE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BE9"/>
                </a:solidFill>
                <a:latin typeface="Arial"/>
                <a:ea typeface="Arial"/>
                <a:cs typeface="Arial"/>
              </a:rPr>
              <a:t>مع خطة تسويق اختيارية للأطباء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8E439-8E6D-41C8-A434-28EE5572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7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5AC3B-DD93-4C49-8C4C-D66D8A0D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عرض مبدئي من دون أسعار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54DDB-98CA-443B-BFAE-C939BE3C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975" b="0">
                <a:solidFill>
                  <a:srgbClr val="A9C9C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C9C6"/>
                </a:solidFill>
                <a:latin typeface="Arial"/>
                <a:ea typeface="Arial"/>
                <a:cs typeface="Arial"/>
              </a:rPr>
              <a:t>سبتمبر 2026</a:t>
            </a:r>
          </a:p>
        </p:txBody>
      </p:sp>
    </p:spTree>
    <p:extLst>
      <p:ext uri="{BB962C8B-B14F-4D97-AF65-F5344CB8AC3E}">
        <p14:creationId xmlns:p14="http://schemas.microsoft.com/office/powerpoint/2010/main" val="1205023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465B4-274F-4783-A1FA-1E60F3CB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FBD07-5254-435B-82B9-10D95E4F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125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عرض خدمات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F4E19-4BBC-486C-A317-F75E4F8A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858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احتياج الطبيب والعيادة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71F4C-55D9-426C-936A-1779EED1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B03D9-7B78-4BEE-A435-71547958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6B7C4-FE0F-4C02-A4E2-42A199BB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76400"/>
            <a:ext cx="847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025" b="1">
                <a:solidFill>
                  <a:srgbClr val="0D485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4851"/>
                </a:solidFill>
                <a:latin typeface="Arial"/>
                <a:ea typeface="Arial"/>
                <a:cs typeface="Arial"/>
              </a:rPr>
              <a:t>منصة واحدة تنظّم رحلة المريض وتمنح الإدارة رؤية واضحة للعمل اليومي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F6D6F-FA33-4EDE-88FD-66C42DA0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38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FD227-6D18-479C-A857-966C4131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إدارة الحجز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E1411-5194-42BD-A9D1-D38864CB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05125"/>
            <a:ext cx="881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تنظيم المواعيد، تسجيل بيانات المريض، وتقليل التعارض والانتظار.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9A83C-BE10-4079-920A-2E2456CE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7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B89AF-1E6A-407D-8150-0C3664E2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استمرار المتابعة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C9F45-259A-4B6A-BD78-D206E0D8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57625"/>
            <a:ext cx="881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تسجيل الزيارات والخطة العلاجية والملاحظات في ملف واحد يرجع إليه الطبيب.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A9C23-33DC-4F66-9715-FD46B2CF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43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5D1A6-0B0A-4BC3-BB18-F6EBB9B2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حضور رقمي مهني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E50F6-D2F5-4719-BD9E-00DA0E80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10125"/>
            <a:ext cx="881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خدمة تسويق مستقلة تساعد الطبيب على الظهور بمحتوى منتظم عند طلبها.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C3068-E1EE-4E0E-93E6-76ED1BDE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43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نطاق العمل النهائي والتسعير يحددان بعد جلسة فهم الاحتياجات</a:t>
            </a:r>
          </a:p>
        </p:txBody>
      </p:sp>
    </p:spTree>
    <p:extLst>
      <p:ext uri="{BB962C8B-B14F-4D97-AF65-F5344CB8AC3E}">
        <p14:creationId xmlns:p14="http://schemas.microsoft.com/office/powerpoint/2010/main" val="1082019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8D161-D575-447A-AA20-FBC14E2B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77B35-903E-4C95-A008-7ACB3B84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125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عرض خدمات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CEAE0-B074-438E-BBE1-DCBB6DAD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858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خدمتان مستقلتان حسب الاحتياج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3F02A-CF73-4087-B59C-D93C3A24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CC2DB-721E-4480-A92E-FE77F551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80CA0-1C1B-405E-BA86-FDAA155A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5FAF9"/>
          </a:solidFill>
          <a:ln xmlns:a="http://schemas.openxmlformats.org/drawingml/2006/main" w="9525">
            <a:solidFill>
              <a:srgbClr val="C9DDD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F901D-425E-4A68-AA54-499D0F7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907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2550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2AA61-109A-4AF4-B320-70BDF6E4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النظام الطبي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AB02E-AF5D-4835-A3CA-C04246A6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00375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حجز المواعيد</a:t>
            </a:r>
          </a:p>
          <a:p xmlns:a="http://schemas.openxmlformats.org/drawingml/2006/main">
            <a:pPr algn="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ملفات المرضى والمتابعة</a:t>
            </a:r>
          </a:p>
          <a:p xmlns:a="http://schemas.openxmlformats.org/drawingml/2006/main">
            <a:pPr algn="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إدارة الدكاترة والتخصصات</a:t>
            </a:r>
          </a:p>
          <a:p xmlns:a="http://schemas.openxmlformats.org/drawingml/2006/main">
            <a:pPr algn="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التواصل وتسجيل التعليمات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F442E-3019-44ED-B84C-1B0E6F0D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F5C9B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91ED4-2A35-4F6E-9A46-1C04DCDD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907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2550" b="1">
                <a:solidFill>
                  <a:srgbClr val="F28C7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8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3C4F2-73DC-4DB9-90F5-7EA2C555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2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الخطة التسويقية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00A7D-64A5-4A93-B054-CAD41009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00375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خطة محتوى شهرية</a:t>
            </a:r>
          </a:p>
          <a:p xmlns:a="http://schemas.openxmlformats.org/drawingml/2006/main">
            <a:pPr algn="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إنتاج حتى 4 فيديوهات للطبيب</a:t>
            </a:r>
          </a:p>
          <a:p xmlns:a="http://schemas.openxmlformats.org/drawingml/2006/main">
            <a:pPr algn="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متابعة النشر والأداء</a:t>
            </a:r>
          </a:p>
          <a:p xmlns:a="http://schemas.openxmlformats.org/drawingml/2006/main">
            <a:pPr algn="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خدمات إضافية حسب الطلب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78447-A502-4FDF-B155-DCADAEA2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43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يمكن التعاقد على النظام فقط أو إضافة الخدمة التسويقية بصورة مستقلة</a:t>
            </a:r>
          </a:p>
        </p:txBody>
      </p:sp>
    </p:spTree>
    <p:extLst>
      <p:ext uri="{BB962C8B-B14F-4D97-AF65-F5344CB8AC3E}">
        <p14:creationId xmlns:p14="http://schemas.microsoft.com/office/powerpoint/2010/main" val="14463417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2EBD8A-206D-4BB3-9C3B-C2FCFC20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99DA6-2DA6-4893-8A1F-4D1F158D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125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الخدمة الأولى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DB9BE-B1FE-4F95-A9FE-95F53AFD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858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نطاق النظام الطبي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2ADD8-BA59-4F21-8A93-AC699CDF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3EF85-0A5E-4A7C-ABAA-6EDC5C89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46F46-8380-40F5-A4CA-CDF2551F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350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C6826-515D-454D-8E32-002CF529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الحجز والمواعيد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A4496-3DA7-4C11-B903-351FC6B9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تقويم للدكاترة والفروع وتأكيد حالة الحجز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E5BDD-172E-4266-A5D9-5F2EC566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14988-0734-4211-8661-BF4BE4EA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350" b="1">
                <a:solidFill>
                  <a:srgbClr val="F28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8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AD4A8-8517-48B6-BB42-7B491476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09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ملف المريض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3AC80-F5B3-4348-BBA6-19745159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بياناته، زياراته، مرفقاته وملاحظات الطبيب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03343-B55E-4E61-91B3-3F965F90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00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2F258-CBC2-4F2E-856C-4D128979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350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3EE08-7FFF-4864-88E1-21F57456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المتابعة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28838-A2E2-49B7-A65C-A01E5128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909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خطط متابعة دورية وتسجيل تطور الحالة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514E4-1AA9-4F16-870A-CF909780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286FF-B289-448C-965B-C672FF65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908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350" b="1">
                <a:solidFill>
                  <a:srgbClr val="F28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8C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E9080-216D-48EF-94BA-F9BAAD25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908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إدارة المنشأة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48AA4-F628-4CF1-8D6A-32FD9F93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909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صلاحيات للإدارة والاستقبال والدكاترة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0FA2A-E75C-409E-976A-E3B60E58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814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17EDB-325B-4AEF-A59A-A0744662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350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0313B-B989-4AB2-ACB8-7EB1BF1F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التخصصات والفروع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89526-44C6-4EA0-9E0B-AD9163D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720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هيكل مناسب للدكتور والعيادة والمركز الطبي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E05974-BC4E-4467-8F6A-228E73D8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723215-B4A1-477E-ABCB-1364ABDF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720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350" b="1">
                <a:solidFill>
                  <a:srgbClr val="F28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8C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BBD4B-06BE-45A0-BE6D-E26E10E0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720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التقارير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3EFDB2-0E2A-4851-996F-76DD014B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720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مؤشرات الحجوزات والحضور ونشاط الدكاترة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49615E-CCA3-4037-B7FF-78D756BF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626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83F307-0D93-44F4-A080-8188AE9A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43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نطاق العمل النهائي والتسعير يحددان بعد جلسة فهم الاحتياجات</a:t>
            </a:r>
          </a:p>
        </p:txBody>
      </p:sp>
    </p:spTree>
    <p:extLst>
      <p:ext uri="{BB962C8B-B14F-4D97-AF65-F5344CB8AC3E}">
        <p14:creationId xmlns:p14="http://schemas.microsoft.com/office/powerpoint/2010/main" val="1309443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DDD28E-00B5-4632-B688-A81CA59E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7B5AB-C04D-47D3-B17A-1A716551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125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عرض خدمات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7E185-6853-4109-B6F4-1C534E6A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858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رحلة المريض داخل النظام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E9603-022F-4770-983A-471BA961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D8D8E-2161-4349-8C9E-2BE6EDCD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5080B-0859-4C1D-B0E5-21E9C499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336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57EEE-E9BB-4E1B-837C-3FA9FBC7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33625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9E994-D1DE-4873-91A3-B2CFC554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33750"/>
            <a:ext cx="1952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اختيار الطبيب</a:t>
            </a:r>
          </a:p>
          <a:p xmlns:a="http://schemas.openxmlformats.org/drawingml/2006/main">
            <a:pPr algn="ct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أو التخصص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E6AAC-DB68-4494-89D4-07ACBC19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1462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FF256-AEBE-4E30-AA13-2FF779A7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8C7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9DB4F-E05D-4EA2-82DC-CD7B1BF6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3D867-5615-45F1-8C54-A1A4EBD7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1952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حجز الموعد</a:t>
            </a:r>
          </a:p>
          <a:p xmlns:a="http://schemas.openxmlformats.org/drawingml/2006/main">
            <a:pPr algn="ct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بالعرض المتاح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D3853-8072-4BE4-BEA7-180494FD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A14E7-8687-4A57-B50E-E5CB198A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336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3E667-3451-4592-BA18-6DC5703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33625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5306D-3677-41AE-A5E3-E7358857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33750"/>
            <a:ext cx="1952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تأكيد</a:t>
            </a:r>
          </a:p>
          <a:p xmlns:a="http://schemas.openxmlformats.org/drawingml/2006/main">
            <a:pPr algn="ct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الحضور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6A401-D25A-451C-8C35-F0C017C8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790A5-F2AE-4EB2-A90C-4BCA5049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07DD3-7BED-491B-9D7F-D1972D13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CA94D-EFAC-4145-817E-CB8B2969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1952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تسجيل</a:t>
            </a:r>
          </a:p>
          <a:p xmlns:a="http://schemas.openxmlformats.org/drawingml/2006/main">
            <a:pPr algn="ct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الزيارة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F3DF8-D43D-4317-8648-26607F5F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1462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A5ABA-850F-4F35-A8B7-E3627EF5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260D7-9141-44C6-B4C6-5682EB4E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08F98F-2DCE-4D8B-8397-EE22D5BB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1952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بدء خطة</a:t>
            </a:r>
          </a:p>
          <a:p xmlns:a="http://schemas.openxmlformats.org/drawingml/2006/main">
            <a:pPr algn="ct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المتابعة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C70091-0514-4DAD-802E-CF1F93A9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1">
                <a:solidFill>
                  <a:srgbClr val="0D48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4851"/>
                </a:solidFill>
                <a:latin typeface="Arial"/>
                <a:ea typeface="Arial"/>
                <a:cs typeface="Arial"/>
              </a:rPr>
              <a:t>الدفع يتم لدى الطبيب أو العيادة. المنصة لا تحصل أموالًا من المريض.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D20D72-8A1E-4E0A-9955-CFC9C263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43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نطاق العمل النهائي والتسعير يحددان بعد جلسة فهم الاحتياجات</a:t>
            </a:r>
          </a:p>
        </p:txBody>
      </p:sp>
    </p:spTree>
    <p:extLst>
      <p:ext uri="{BB962C8B-B14F-4D97-AF65-F5344CB8AC3E}">
        <p14:creationId xmlns:p14="http://schemas.microsoft.com/office/powerpoint/2010/main" val="874925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D7AEE-8A4C-42B8-83FC-ADC75FAF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0850C-C464-49C7-A4A8-0969962D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125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عرض خدمات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F3407-5266-4920-BCD1-CDDD1285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858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مرونة تناسب حجم المنشأة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44B5B-7657-438E-8EFA-E3650306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5F982-34B9-46C3-A86C-37A3C839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ED38E-06F3-411D-9822-37631853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319087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5FAF9"/>
          </a:solidFill>
          <a:ln xmlns:a="http://schemas.openxmlformats.org/drawingml/2006/main" w="9525">
            <a:solidFill>
              <a:srgbClr val="C9DDD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1F8D6-9C94-4F80-BF1B-B75E4CA7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725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F2732-5174-47A4-AAB2-C5582509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669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02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دكتور مستقل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FF1AF-CDFA-451C-96AB-ECE38B0C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D6707-71D5-49B5-ACB7-1677D141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43250"/>
            <a:ext cx="252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جدول شخصي</a:t>
            </a:r>
          </a:p>
          <a:p xmlns:a="http://schemas.openxmlformats.org/drawingml/2006/main">
            <a:pPr algn="ct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ملفات المرضى</a:t>
            </a:r>
          </a:p>
          <a:p xmlns:a="http://schemas.openxmlformats.org/drawingml/2006/main">
            <a:pPr algn="ct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متابعة مباشرة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0248E-0642-4153-A3C5-6FB45EE5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47875"/>
            <a:ext cx="319087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C9DD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43A47-8976-495B-9FA2-B1CF3052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725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0DFFE-37F6-482F-AFDD-D690E756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669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02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عيادة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16010-F070-49EF-946A-204788B5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7655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7B204-F749-4618-B0D4-1DF2F630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43250"/>
            <a:ext cx="252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دكتور أو أكثر</a:t>
            </a:r>
          </a:p>
          <a:p xmlns:a="http://schemas.openxmlformats.org/drawingml/2006/main">
            <a:pPr algn="ct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استقبال وصلاحيات</a:t>
            </a:r>
          </a:p>
          <a:p xmlns:a="http://schemas.openxmlformats.org/drawingml/2006/main">
            <a:pPr algn="ct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تقارير تشغيل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0305E-0FDE-4EBD-A1B6-41D79E8E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319087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5FAF9"/>
          </a:solidFill>
          <a:ln xmlns:a="http://schemas.openxmlformats.org/drawingml/2006/main" w="9525">
            <a:solidFill>
              <a:srgbClr val="C9DD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AE9E5-E1F3-4EB0-943A-29D0D120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860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725" b="1">
                <a:solidFill>
                  <a:srgbClr val="F28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8C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1B652-BCB4-4D24-9FDD-9F746EB5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02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مركز طبي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C5EC4-40C3-4A68-8D25-9DDB558A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F2216-BB35-43C8-85BA-AFA9DB32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43250"/>
            <a:ext cx="252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تخصصات متعددة</a:t>
            </a:r>
          </a:p>
          <a:p xmlns:a="http://schemas.openxmlformats.org/drawingml/2006/main">
            <a:pPr algn="ct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فروع ودكاترة</a:t>
            </a:r>
          </a:p>
          <a:p xmlns:a="http://schemas.openxmlformats.org/drawingml/2006/main">
            <a:pPr algn="ctr" rtl="1">
              <a:defRPr sz="15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إدارة مركزية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75349-996C-450E-9C70-57C4E5A0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43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نطاق العمل النهائي والتسعير يحددان بعد جلسة فهم الاحتياجات</a:t>
            </a:r>
          </a:p>
        </p:txBody>
      </p:sp>
    </p:spTree>
    <p:extLst>
      <p:ext uri="{BB962C8B-B14F-4D97-AF65-F5344CB8AC3E}">
        <p14:creationId xmlns:p14="http://schemas.microsoft.com/office/powerpoint/2010/main" val="14812460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5E2D0-139C-410C-B992-B4AE503E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97BB1-0494-482C-ADFB-3FE39AAE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125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عرض خدمات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55B24-2B0E-4E1E-8B0E-B8555AB3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858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المتابعة والتواصل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AAB3C-531C-4FE5-8705-7FCCEDD5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7A345-34D1-4F9F-9021-C818EF4F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4B4D1-1DE3-4DED-BC35-1315C5D3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66875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950" b="1">
                <a:solidFill>
                  <a:srgbClr val="0D485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4851"/>
                </a:solidFill>
                <a:latin typeface="Arial"/>
                <a:ea typeface="Arial"/>
                <a:cs typeface="Arial"/>
              </a:rPr>
              <a:t>يحفظ النظام تاريخ الحالة ويحوّل المتابعة إلى خطوات واضحة للطبيب والمريض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5D787-ADAD-4914-B90A-EC1EBE8B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1009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26E49-FB5B-4C8D-9DF2-0FC7D8D9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527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سجل الزيارات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4A716-30E5-40BF-ACAA-EF1EFE84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527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تفاصيل كل زيارة وملاحظات الطبيب في ترتيب زمني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6D5C4-24BA-4931-A4F7-6DAE493A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14700"/>
            <a:ext cx="1009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5FAF9"/>
          </a:solidFill>
          <a:ln xmlns:a="http://schemas.openxmlformats.org/drawingml/2006/main" w="9525">
            <a:solidFill>
              <a:srgbClr val="C9DD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5B7B3-A7DB-4990-93CE-55355B2F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909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المرفقات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4E17A-1CFA-46EF-AEAE-03F6E4A1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909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رفع التحاليل والتقارير والصور وربطها بملف المريض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6AB4E-FFA1-4FE5-B4BC-1639F02D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52900"/>
            <a:ext cx="1009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D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6C5FF-4CCD-4C31-BFAD-C6BB3387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291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خطة المتابعة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2D3F7-FD65-41BC-B7E2-76370720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291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مواعيد المتابعة والتعليمات والمهام المطلوبة من المريض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71251-85F8-4AAE-8D38-038394BE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91100"/>
            <a:ext cx="1009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5FAF9"/>
          </a:solidFill>
          <a:ln xmlns:a="http://schemas.openxmlformats.org/drawingml/2006/main" w="9525">
            <a:solidFill>
              <a:srgbClr val="C9DD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02B86-250B-4879-A32C-3A4D5ECF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673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5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التواصل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0E0C5-1592-4611-AA00-37135BF1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673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رسائل منظمة داخل النظام وفق صلاحيات وسياسة العيادة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832F7-9490-433F-B36E-774CA974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43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تفاصيل قنوات التواصل وفترات الرد تحدد مع سياسة كل عيادة</a:t>
            </a:r>
          </a:p>
        </p:txBody>
      </p:sp>
    </p:spTree>
    <p:extLst>
      <p:ext uri="{BB962C8B-B14F-4D97-AF65-F5344CB8AC3E}">
        <p14:creationId xmlns:p14="http://schemas.microsoft.com/office/powerpoint/2010/main" val="1145415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EAEF4-9AD0-4FDE-AABE-E82A5A78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72682-9DAA-49B5-BD35-78BE77C1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125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الخدمة الثانية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5F31F-808F-4DA9-A8F9-AECC40BF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858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الخطة التسويقية الاختيارية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4844F-FF0E-42C8-AC01-A968EE6D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3D24B-BE38-495D-B28D-74C5522D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43FA4-C28C-4147-A3EC-03A2C16B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D485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018C3-E865-4DE6-AB70-0EEFEDB2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425" b="0">
                <a:solidFill>
                  <a:srgbClr val="B5DA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5DAD6"/>
                </a:solidFill>
                <a:latin typeface="Arial"/>
                <a:ea typeface="Arial"/>
                <a:cs typeface="Arial"/>
              </a:rPr>
              <a:t>حتى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F1135-6725-4A22-AE18-FD34EDBC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00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4848D-D714-4A09-8C94-9EB5DC7C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623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فيديوهات شهريًا</a:t>
            </a:r>
          </a:p>
          <a:p xmlns:a="http://schemas.openxmlformats.org/drawingml/2006/main">
            <a:pPr algn="ctr" rtl="1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لكل دكتور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BB2FB-49C8-4D8E-9817-72F850B5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975" b="0">
                <a:solidFill>
                  <a:srgbClr val="B5DAD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5DAD6"/>
                </a:solidFill>
                <a:latin typeface="Arial"/>
                <a:ea typeface="Arial"/>
                <a:cs typeface="Arial"/>
              </a:rPr>
              <a:t>العدد النهائي ونوع الإنتاج يتحددان في الخطة المتفق عليها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553EA-D561-4EFA-BF8A-8920811C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19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7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E9247-2585-429F-97CF-CA24D328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خطة محتوى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EC4F9-015D-4BEE-A0E9-C07D5C92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86000"/>
            <a:ext cx="881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موضوعات مرتبطة بالتخصص وأسئلة المرضى وأهداف الطبيب.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3AAC9-E0D7-4259-97A0-2E651A13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67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D2EAE-918C-4856-8309-85389332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الإنتاج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01EDF-396B-428E-AF1A-E93DF22C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0"/>
            <a:ext cx="881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تجهيز الأفكار والسيناريوهات والتصوير والمونتاج حسب النطاق.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319D8-395D-40DE-8CCF-A0D58CEF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7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96E98-6963-4824-A9A2-3E07D6FA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النشر والمتابعة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CBBC5-CB1B-4E0F-88F6-00D05412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381500"/>
            <a:ext cx="881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تنظيم جدول النشر ومراجعة مؤشرات الأداء بصورة دورية.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D267B-BFAE-4099-B4B5-A6700947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43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خدمة التسويق منفصلة عن اشتراك النظام وتنفذ حسب الطلب</a:t>
            </a:r>
          </a:p>
        </p:txBody>
      </p:sp>
    </p:spTree>
    <p:extLst>
      <p:ext uri="{BB962C8B-B14F-4D97-AF65-F5344CB8AC3E}">
        <p14:creationId xmlns:p14="http://schemas.microsoft.com/office/powerpoint/2010/main" val="10437304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32B51-ED8F-4B23-A8B8-56BDB3A2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D6165-CE4F-4190-BD30-7A4DE1B5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125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عرض خدمات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D9A3-B7D4-4214-8049-1458EE17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858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مراحل بدء التعاون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D0F30-E960-4C5E-9398-D4CFC1DC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6B8BB-EA97-4944-BC29-C5FF5F85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04768-DE47-46FB-97AC-217E64FA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8382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32150-9767-4C57-82B3-B1B6CE05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667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 rtl="1">
              <a:defRPr sz="217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خطوات التعاون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D295B-AA7B-43FB-A854-C22A1538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81125"/>
            <a:ext cx="754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DF070-A67D-4E52-A5F4-8023122F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4D977-F138-4A0D-8E22-6D9D8085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فهم الاحتياجات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13368-8827-4326-BE99-6399FA00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عدد الدكاترة والفروع وطريقة العمل الحالية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08930-118A-417E-8B6E-4A02F448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2288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3899B-2F0C-4DCA-A09B-4266EA68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90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1">
                <a:solidFill>
                  <a:srgbClr val="F28C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8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3BFC2-E5EF-4A19-8B9C-4B6148C1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908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تحديد النطاق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16A55-B97F-4040-9F11-36FB4517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908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اختيار وحدات النظام والصلاحيات وخدمة التسويق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77EB2-7916-48EB-9B86-148A5281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1051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B86C2-A8F9-4E1A-9DC9-6BEF299D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671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8BFF6A-CC87-4FCE-A9D8-354B707F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671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الإعداد والتجهيز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F1B2C3-D456-495D-A369-0554CFE7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تهيئة الحسابات والبيانات ومسار الحجز والمتابعة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16129-96CD-4742-AB9E-8E742CDD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9814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8696D-98F0-4BB2-A1BB-CCBF6EA9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434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1">
                <a:solidFill>
                  <a:srgbClr val="F28C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8C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52B6E-6D3E-40CF-8558-EE4BF051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التدريب والإطلاق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BD3EF-0824-4DA3-9968-A117A377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434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تدريب الفريق وبدء الاستخدام ومراجعة التشغيل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85026-8EF8-4799-800F-C5B694C9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8577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48BEBE-DBBC-4F61-8187-32320D95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197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650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FC1C98-1CED-4612-84EE-6603CC24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الدعم والتطوير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5F3ED7-8201-40E9-BE64-6CCF56E5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متابعة الملاحظات والتحسينات المتفق عليها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75406-3DAB-46EE-BEF2-08F3F43D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43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نطاق العمل النهائي والتسعير يحددان بعد جلسة فهم الاحتياجات</a:t>
            </a:r>
          </a:p>
        </p:txBody>
      </p:sp>
    </p:spTree>
    <p:extLst>
      <p:ext uri="{BB962C8B-B14F-4D97-AF65-F5344CB8AC3E}">
        <p14:creationId xmlns:p14="http://schemas.microsoft.com/office/powerpoint/2010/main" val="933759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E6BF1-7D99-4058-B19D-24DAF28A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09EE4-FCC0-42B7-B714-40C62CC9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125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عرض سعر مبدئي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E7104-F095-4770-9E47-7A181D3D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858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7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أساس إعداد العرض المالي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9078C-FAE0-41F2-80FE-94C755F1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6B71E-3338-4AE2-BEFE-FA180143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CD9D6-06EF-48F0-816D-CA78BCBF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14500"/>
            <a:ext cx="909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2025" b="1">
                <a:solidFill>
                  <a:srgbClr val="0D485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4851"/>
                </a:solidFill>
                <a:latin typeface="Arial"/>
                <a:ea typeface="Arial"/>
                <a:cs typeface="Arial"/>
              </a:rPr>
              <a:t>لا يتضمن هذا العرض أسعارًا ثابتة لأن التكلفة ترتبط بنطاق الاستخدام والخدمات المطلوبة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34300-0423-4AD3-821D-14D0F5F1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حجم المنشأة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50976-6886-4B0C-BA12-1344B46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دكتور مستقل، عيادة، مركز، وعدد الفروع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CFD14-8593-41E6-80B6-7C8C493D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FB725-17E7-4B1D-A2B0-438CDAA7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عدد المستخدمين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33CFE-05F2-4BA9-810D-CDE9B32D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الدكاترة، الاستقبال، الإدارة والمساعدون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293E7-13DE-46E4-A439-1836282A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623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6A32D-2301-40CA-A60A-E9457DA9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وحدات النظام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12764-A5E1-4FF1-B562-6EDA0B07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الحجز، الملفات، المتابعة، التواصل والتقارير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0E0CD-3AF8-4637-ACD1-FA91CC4E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A59AC-61FF-4D98-B9D9-12085FAB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65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الخدمة التسويقية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732B9-2BFB-46DE-9F08-42F64F02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243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27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عدد الأطباء، الفيديوهات، التصوير، النشر والمتابعة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A125B-5130-4D3F-8B8C-F372A7B9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7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B00F1-82F9-45A1-86DA-5F92AC81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43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 rtl="1">
              <a:defRPr sz="900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بعد جلسة تحديد النطاق يصدر عرض مالي مستقل للنظام وآخر لخطة التسويق عند طلبها</a:t>
            </a:r>
          </a:p>
        </p:txBody>
      </p:sp>
    </p:spTree>
    <p:extLst>
      <p:ext uri="{BB962C8B-B14F-4D97-AF65-F5344CB8AC3E}">
        <p14:creationId xmlns:p14="http://schemas.microsoft.com/office/powerpoint/2010/main" val="17023561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DB236-66D1-4913-8EF1-5228432E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94E12-B07C-4E2A-AFE8-D2A60FCF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430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3000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الخطوة التالية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EC27E-66E4-4DD8-AD35-B6C4CB21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875" b="0">
                <a:solidFill>
                  <a:srgbClr val="0D485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D4851"/>
                </a:solidFill>
                <a:latin typeface="Arial"/>
                <a:ea typeface="Arial"/>
                <a:cs typeface="Arial"/>
              </a:rPr>
              <a:t>جلسة قصيرة لفهم طريقة العمل الحالية، ثم إعداد نطاق واضح وعرض مالي مناسب للمنشأة.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DE522-AC49-42DD-91C4-5E10FABB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D485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D6587-DF6B-4B0C-A571-0E20C06A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171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نظام</a:t>
            </a:r>
          </a:p>
          <a:p xmlns:a="http://schemas.openxmlformats.org/drawingml/2006/main">
            <a:pPr algn="ctr" rtl="1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طبي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BF9B8-B46E-48F7-9FC8-46780692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2700" b="1">
                <a:solidFill>
                  <a:srgbClr val="F28C7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28C7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5471C-1AA1-47FA-BA07-E89C1F55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766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rtl="1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تسويق اختياري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AB53C-C530-49C0-A0DA-D1E97FB2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575" b="1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13B"/>
                </a:solidFill>
                <a:latin typeface="Arial"/>
                <a:ea typeface="Arial"/>
                <a:cs typeface="Arial"/>
              </a:rPr>
              <a:t>بيانات مطلوبة لإعداد العرض النهائي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C4968-46DD-462F-98BB-D6ACF5D3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91000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 rtl="1">
              <a:defRPr sz="14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عدد الدكاترة والفروع والتخصصات</a:t>
            </a:r>
          </a:p>
          <a:p xmlns:a="http://schemas.openxmlformats.org/drawingml/2006/main">
            <a:pPr algn="r" rtl="1">
              <a:defRPr sz="14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الأدوار المطلوبة داخل النظام</a:t>
            </a:r>
          </a:p>
          <a:p xmlns:a="http://schemas.openxmlformats.org/drawingml/2006/main">
            <a:pPr algn="r" rtl="1">
              <a:defRPr sz="14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نطاق المتابعة والتواصل</a:t>
            </a:r>
          </a:p>
          <a:p xmlns:a="http://schemas.openxmlformats.org/drawingml/2006/main">
            <a:pPr algn="r" rtl="1">
              <a:defRPr sz="1425" b="0">
                <a:solidFill>
                  <a:srgbClr val="6072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27A"/>
                </a:solidFill>
                <a:latin typeface="Arial"/>
                <a:ea typeface="Arial"/>
                <a:cs typeface="Arial"/>
              </a:rPr>
              <a:t>احتياجات التسويق لكل دكتور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93334-65E3-40BD-8388-764B4B49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rtl="1">
              <a:defRPr sz="1125" b="1">
                <a:solidFill>
                  <a:srgbClr val="149A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A95"/>
                </a:solidFill>
                <a:latin typeface="Arial"/>
                <a:ea typeface="Arial"/>
                <a:cs typeface="Arial"/>
              </a:rPr>
              <a:t>شكرًا لوقتكم</a:t>
            </a:r>
          </a:p>
        </p:txBody>
      </p:sp>
    </p:spTree>
    <p:extLst>
      <p:ext uri="{BB962C8B-B14F-4D97-AF65-F5344CB8AC3E}">
        <p14:creationId xmlns:p14="http://schemas.microsoft.com/office/powerpoint/2010/main" val="553362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2026-09-16T11:43:04.5790000Z</dcterms:created>
  <dcterms:modified xsi:type="dcterms:W3CDTF">2026-09-16T11:43:04.5790000Z</dcterms:modified>
</coreProperties>
</file>